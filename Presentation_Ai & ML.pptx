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70" r:id="rId3"/>
    <p:sldId id="265" r:id="rId4"/>
    <p:sldId id="271" r:id="rId5"/>
    <p:sldId id="259" r:id="rId6"/>
    <p:sldId id="266" r:id="rId7"/>
    <p:sldId id="260" r:id="rId8"/>
    <p:sldId id="261" r:id="rId9"/>
    <p:sldId id="272" r:id="rId10"/>
    <p:sldId id="273" r:id="rId11"/>
    <p:sldId id="274" r:id="rId12"/>
    <p:sldId id="263" r:id="rId13"/>
    <p:sldId id="275" r:id="rId14"/>
    <p:sldId id="269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149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6608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8819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282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411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5180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6719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4092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878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424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613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387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12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6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agsy.2025.10411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79"/>
            <a:ext cx="8412480" cy="467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smtClean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</a:t>
            </a:r>
            <a:r>
              <a:rPr lang="en-US" sz="2000" b="1" dirty="0" smtClean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</a:t>
            </a: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Agricultural Sciences, GKVK, Bengaluru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 smtClean="0">
                <a:solidFill>
                  <a:srgbClr val="7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        </a:t>
            </a:r>
            <a:r>
              <a:rPr lang="en-US" sz="1100" b="1" i="1" dirty="0" smtClean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r>
              <a:rPr lang="en-US" sz="1100" b="1" i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EAI-421 (0+10) </a:t>
            </a:r>
            <a:endParaRPr lang="en-US" sz="1100" b="1" i="1" dirty="0" smtClean="0">
              <a:solidFill>
                <a:srgbClr val="92D0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 b="1" i="1" dirty="0" smtClean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Application </a:t>
            </a:r>
            <a:r>
              <a:rPr lang="en-US" sz="1100" b="1" i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&amp; ML in Agriculture</a:t>
            </a:r>
            <a:endParaRPr lang="en-US" sz="1100" b="1" dirty="0">
              <a:solidFill>
                <a:srgbClr val="92D05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80159"/>
            <a:ext cx="8229600" cy="1343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of ML on Analysing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41231"/>
            <a:ext cx="8229600" cy="1490981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Demand for </a:t>
            </a:r>
            <a:r>
              <a:rPr lang="en-US" sz="3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Arecanut</a:t>
            </a: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229600" cy="1123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0218"/>
            <a:ext cx="8229600" cy="1570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endParaRPr lang="en-US" sz="1400" b="1" dirty="0" smtClean="0">
              <a:solidFill>
                <a:srgbClr val="A8C4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b="1" dirty="0" smtClean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 err="1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</a:t>
            </a:r>
            <a:r>
              <a:rPr lang="en-US" sz="1400" dirty="0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 (BMB2058)  </a:t>
            </a:r>
            <a:endParaRPr lang="en-US" sz="1400" dirty="0" smtClean="0">
              <a:solidFill>
                <a:srgbClr val="8AADC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dirty="0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Kiran KS (BMB2057)  </a:t>
            </a:r>
            <a:r>
              <a:rPr lang="en-US" sz="1400" dirty="0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Siddarth</a:t>
            </a:r>
            <a:r>
              <a:rPr lang="en-US" sz="1400" dirty="0" smtClean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Shabadi (AMB2247</a:t>
            </a:r>
            <a:r>
              <a:rPr lang="en-US" sz="1050" dirty="0">
                <a:solidFill>
                  <a:srgbClr val="8A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15" y="0"/>
            <a:ext cx="8612946" cy="60452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b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1.Background </a:t>
            </a: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Introduction</a:t>
            </a:r>
            <a:r>
              <a:rPr lang="en-US" sz="1300" dirty="0"/>
              <a:t/>
            </a:r>
            <a:br>
              <a:rPr lang="en-US" sz="1300" dirty="0"/>
            </a:br>
            <a:r>
              <a:rPr lang="en-US" sz="130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</a:t>
            </a: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importance, Karnataka's role &amp; market </a:t>
            </a: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</a:rPr>
              <a:t/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300" b="1" dirty="0" smtClean="0">
                <a:solidFill>
                  <a:schemeClr val="tx1"/>
                </a:solidFill>
              </a:rPr>
              <a:t>2.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b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ML-based demand forecasting for </a:t>
            </a:r>
            <a:r>
              <a:rPr lang="en-US" sz="13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</a:t>
            </a: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b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records, 10 districts, environmental &amp; economic </a:t>
            </a: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b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regression models with 80:20 train-test split</a:t>
            </a:r>
            <a:r>
              <a:rPr lang="en-US" sz="1300" dirty="0">
                <a:solidFill>
                  <a:srgbClr val="C00000"/>
                </a:solidFill>
              </a:rPr>
              <a:t/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300" dirty="0">
                <a:solidFill>
                  <a:srgbClr val="C00000"/>
                </a:solidFill>
              </a:rPr>
              <a:t/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300" dirty="0" smtClean="0">
                <a:solidFill>
                  <a:srgbClr val="C00000"/>
                </a:solidFill>
              </a:rPr>
              <a:t>5.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</a:t>
            </a: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b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 across all four </a:t>
            </a: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b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model, feature importance &amp; </a:t>
            </a:r>
            <a:r>
              <a:rPr lang="en-US" sz="130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</a:t>
            </a: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br>
              <a:rPr lang="en-US" sz="1300" b="1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agricultural policy</a:t>
            </a:r>
            <a:r>
              <a:rPr lang="en-US" sz="1300" dirty="0">
                <a:solidFill>
                  <a:srgbClr val="C00000"/>
                </a:solidFill>
              </a:rPr>
              <a:t/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300" dirty="0"/>
              <a:t/>
            </a:r>
            <a:br>
              <a:rPr lang="en-US" sz="1300" dirty="0"/>
            </a:br>
            <a:r>
              <a:rPr lang="en-US" sz="1300" dirty="0">
                <a:solidFill>
                  <a:srgbClr val="C00000"/>
                </a:solidFill>
              </a:rPr>
              <a:t/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300" dirty="0"/>
              <a:t/>
            </a:r>
            <a:br>
              <a:rPr lang="en-US" sz="1300" dirty="0"/>
            </a:br>
            <a:r>
              <a:rPr lang="en-US" sz="1300" dirty="0">
                <a:solidFill>
                  <a:srgbClr val="C00000"/>
                </a:solidFill>
              </a:rPr>
              <a:t/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C00000"/>
                </a:solidFill>
              </a:rPr>
              <a:t/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C00000"/>
                </a:solidFill>
              </a:rPr>
              <a:t/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/>
              <a:t/>
            </a:r>
            <a:br>
              <a:rPr lang="en-US" sz="1400" dirty="0"/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3143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317220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</a:t>
            </a:r>
            <a:r>
              <a:rPr lang="en-US" sz="1600" b="1" dirty="0" smtClean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600" b="1" dirty="0" smtClean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br>
              <a:rPr lang="en-US" sz="1600" b="1" dirty="0" smtClean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 smtClean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accounts for ~40% of India's total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
</a:t>
            </a: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districts: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Shivamogga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Dakshina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Kannada, Udupi,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Chikkamagaluru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Kodagu
</a:t>
            </a: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volatile market: price swings 250–350 ₹/kg year-over-year
</a:t>
            </a: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tools for data-driven demand forecasting
</a:t>
            </a: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offer non-linear, scalable prediction power over traditional statistics</a:t>
            </a:r>
            <a:endParaRPr lang="en-US"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23359"/>
            <a:ext cx="7543800" cy="175605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28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9568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1600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contribution:</a:t>
            </a:r>
            <a:r>
              <a:rPr lang="en-US" sz="1600" dirty="0" smtClean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600" dirty="0" smtClean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India's total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production. Key districts: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Shivamogga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Dakshina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Kannada, Udupi,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Chikkamagaluru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Kodagu.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IN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>
                <a:solidFill>
                  <a:srgbClr val="002060"/>
                </a:solidFill>
              </a:rPr>
              <a:t>Crop significance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cash crop sustaining thousands of farming households. Deeply embedded socio-cultural commodity across South Asia</a:t>
            </a: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r>
              <a:rPr lang="en-IN" dirty="0" smtClean="0">
                <a:solidFill>
                  <a:srgbClr val="002060"/>
                </a:solidFill>
              </a:rPr>
              <a:t>Market demand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demand &amp; price volatility driven by seasonal rainfall, temperature anomalies, shifting consumer preferences &amp; trade regulations</a:t>
            </a: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61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3632"/>
            <a:ext cx="9144000" cy="68580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41832"/>
            <a:ext cx="8503920" cy="1325880"/>
          </a:xfrm>
          <a:prstGeom prst="rect">
            <a:avLst/>
          </a:prstGeom>
          <a:solidFill>
            <a:srgbClr val="2E4A6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compare four regression models — Linear Regression, Decision Tree, Random Forest and ANN — for predicting arecanut demand in Karnataka using a multi-variable dataset covering environmental, agronomic, and economic factors from 2015–2024. Model performance is evaluated using MAE, MSE, RMSE and R², with hyperparameter tuning analysis to identify the most suitable model for agricultural forecasting.</a:t>
            </a:r>
            <a:endParaRPr lang="en-US" sz="1200" b="1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3042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  |  100 records · 10 districts · 2015–2024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162763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7157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Rainfall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328416"/>
            <a:ext cx="14447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input: Seasonal variability captured per district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20824" y="2638045"/>
            <a:ext cx="1627632" cy="21625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12264" y="27157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(°C)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12264" y="3328416"/>
            <a:ext cx="14447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input: Mean ambient temperature per record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21608" y="2606040"/>
            <a:ext cx="162763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13048" y="27157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 tons)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3328416"/>
            <a:ext cx="14447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predictor — Pearson r ≈ 0.97 with demand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22392" y="2606040"/>
            <a:ext cx="162763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13832" y="27157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(Rs./kg)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13832" y="3328416"/>
            <a:ext cx="14447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market price at major trading hubs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23176" y="2606040"/>
            <a:ext cx="1627632" cy="2194560"/>
          </a:xfrm>
          <a:prstGeom prst="rect">
            <a:avLst/>
          </a:prstGeom>
          <a:solidFill>
            <a:srgbClr val="2E4A62"/>
          </a:solidFill>
          <a:ln w="25400">
            <a:solidFill>
              <a:srgbClr val="2D7DD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14616" y="271576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Demand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 tons)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14616" y="3328416"/>
            <a:ext cx="14447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continuous regression output</a:t>
            </a:r>
            <a:endParaRPr lang="en-US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63217"/>
            <a:ext cx="8778240" cy="418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3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78408"/>
            <a:ext cx="384048" cy="38404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9669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arecanut records from 10 Karnataka districts, 2015–2024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172968" y="8412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978408"/>
            <a:ext cx="384048" cy="38404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3282696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67328" y="99669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49961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completeness; no missing values; feature validation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21324" y="843633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978408"/>
            <a:ext cx="384048" cy="38404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6" name="Text 14"/>
          <p:cNvSpPr/>
          <p:nvPr/>
        </p:nvSpPr>
        <p:spPr>
          <a:xfrm>
            <a:off x="6135624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0256" y="99669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35624" y="149961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Temperature, Production, Market Price → Target: Demand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971800"/>
            <a:ext cx="384048" cy="38404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99008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4930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stratified split · random_state=42 · 80 train / 20 test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82696" y="2971800"/>
            <a:ext cx="384048" cy="38404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6" name="Text 24"/>
          <p:cNvSpPr/>
          <p:nvPr/>
        </p:nvSpPr>
        <p:spPr>
          <a:xfrm>
            <a:off x="3282696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67328" y="299008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82696" y="34930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 · Decision Tree · Random Forest (200 trees) · ANN/MLP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25896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2971800"/>
            <a:ext cx="384048" cy="38404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0256" y="299008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35624" y="34930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 on held-out test set for all four models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4626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4112"/>
            <a:ext cx="9144000" cy="448056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06040" cy="411480"/>
          </a:xfrm>
          <a:prstGeom prst="rect">
            <a:avLst/>
          </a:prstGeom>
          <a:solidFill>
            <a:srgbClr val="2E4A62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" y="8046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0" y="804672"/>
            <a:ext cx="1463040" cy="411480"/>
          </a:xfrm>
          <a:prstGeom prst="rect">
            <a:avLst/>
          </a:prstGeom>
          <a:solidFill>
            <a:srgbClr val="2E4A62"/>
          </a:solidFill>
          <a:ln/>
        </p:spPr>
      </p:sp>
      <p:sp>
        <p:nvSpPr>
          <p:cNvPr id="7" name="Text 5"/>
          <p:cNvSpPr/>
          <p:nvPr/>
        </p:nvSpPr>
        <p:spPr>
          <a:xfrm>
            <a:off x="2980944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(tons)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04672"/>
            <a:ext cx="1463040" cy="411480"/>
          </a:xfrm>
          <a:prstGeom prst="rect">
            <a:avLst/>
          </a:prstGeom>
          <a:solidFill>
            <a:srgbClr val="2E4A62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(tons)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804672"/>
            <a:ext cx="1463040" cy="411480"/>
          </a:xfrm>
          <a:prstGeom prst="rect">
            <a:avLst/>
          </a:prstGeom>
          <a:solidFill>
            <a:srgbClr val="2E4A62"/>
          </a:solidFill>
          <a:ln/>
        </p:spPr>
      </p:sp>
      <p:sp>
        <p:nvSpPr>
          <p:cNvPr id="11" name="Text 9"/>
          <p:cNvSpPr/>
          <p:nvPr/>
        </p:nvSpPr>
        <p:spPr>
          <a:xfrm>
            <a:off x="5907024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804672"/>
            <a:ext cx="1234440" cy="411480"/>
          </a:xfrm>
          <a:prstGeom prst="rect">
            <a:avLst/>
          </a:prstGeom>
          <a:solidFill>
            <a:srgbClr val="2E4A62"/>
          </a:solidFill>
          <a:ln/>
        </p:spPr>
      </p:sp>
      <p:sp>
        <p:nvSpPr>
          <p:cNvPr id="13" name="Text 11"/>
          <p:cNvSpPr/>
          <p:nvPr/>
        </p:nvSpPr>
        <p:spPr>
          <a:xfrm>
            <a:off x="7370064" y="8046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261872"/>
            <a:ext cx="2606040" cy="713232"/>
          </a:xfrm>
          <a:prstGeom prst="rect">
            <a:avLst/>
          </a:prstGeom>
          <a:solidFill>
            <a:srgbClr val="EEF6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261872"/>
            <a:ext cx="64008" cy="71323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26187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2926080" y="1261872"/>
            <a:ext cx="1463040" cy="713232"/>
          </a:xfrm>
          <a:prstGeom prst="rect">
            <a:avLst/>
          </a:prstGeom>
          <a:solidFill>
            <a:srgbClr val="EEF6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26187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1261872"/>
            <a:ext cx="1463040" cy="713232"/>
          </a:xfrm>
          <a:prstGeom prst="rect">
            <a:avLst/>
          </a:prstGeom>
          <a:solidFill>
            <a:srgbClr val="EEF6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26187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261872"/>
            <a:ext cx="1463040" cy="713232"/>
          </a:xfrm>
          <a:prstGeom prst="rect">
            <a:avLst/>
          </a:prstGeom>
          <a:solidFill>
            <a:srgbClr val="EEF6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26187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1261872"/>
            <a:ext cx="1234440" cy="713232"/>
          </a:xfrm>
          <a:prstGeom prst="rect">
            <a:avLst/>
          </a:prstGeom>
          <a:solidFill>
            <a:srgbClr val="EEF6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26187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1st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039112"/>
            <a:ext cx="2606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03911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(n=200)</a:t>
            </a:r>
            <a:endParaRPr lang="en-US" sz="1100" b="1" dirty="0"/>
          </a:p>
        </p:txBody>
      </p:sp>
      <p:sp>
        <p:nvSpPr>
          <p:cNvPr id="27" name="Shape 25"/>
          <p:cNvSpPr/>
          <p:nvPr/>
        </p:nvSpPr>
        <p:spPr>
          <a:xfrm>
            <a:off x="2926080" y="2039112"/>
            <a:ext cx="1463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03911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2039112"/>
            <a:ext cx="1463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03911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2039112"/>
            <a:ext cx="1463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03911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0.9393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2039112"/>
            <a:ext cx="12344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03911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816352"/>
            <a:ext cx="2606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81635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(tuned)</a:t>
            </a:r>
            <a:endParaRPr lang="en-US" sz="1100" b="1" dirty="0"/>
          </a:p>
        </p:txBody>
      </p:sp>
      <p:sp>
        <p:nvSpPr>
          <p:cNvPr id="37" name="Shape 35"/>
          <p:cNvSpPr/>
          <p:nvPr/>
        </p:nvSpPr>
        <p:spPr>
          <a:xfrm>
            <a:off x="2926080" y="2816352"/>
            <a:ext cx="1463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281635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2816352"/>
            <a:ext cx="1463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281635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52160" y="2816352"/>
            <a:ext cx="1463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281635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0" y="2816352"/>
            <a:ext cx="1234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281635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566160"/>
            <a:ext cx="2606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59359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/ MLPRegressor</a:t>
            </a:r>
            <a:endParaRPr lang="en-US" sz="1100" b="1" dirty="0"/>
          </a:p>
        </p:txBody>
      </p:sp>
      <p:sp>
        <p:nvSpPr>
          <p:cNvPr id="47" name="Shape 45"/>
          <p:cNvSpPr/>
          <p:nvPr/>
        </p:nvSpPr>
        <p:spPr>
          <a:xfrm>
            <a:off x="2926080" y="3593592"/>
            <a:ext cx="1463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59359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3593592"/>
            <a:ext cx="1463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59359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52160" y="3593592"/>
            <a:ext cx="14630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359359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15200" y="3593592"/>
            <a:ext cx="1234440" cy="713232"/>
          </a:xfrm>
          <a:prstGeom prst="rect">
            <a:avLst/>
          </a:prstGeom>
          <a:solidFill>
            <a:srgbClr val="F7FAFD"/>
          </a:solidFill>
          <a:ln w="6350">
            <a:solidFill>
              <a:srgbClr val="D9E4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359359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1C2B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02920" y="4343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9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complex models due to a dominant linear relationship between production volume and demand (Pearson r ≈ 0.97). Simpler models are preferred when data relationships are fundamentally linear.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38294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Fig1:lineaer regression                         fig2:random forest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27" y="366695"/>
            <a:ext cx="3882489" cy="2926080"/>
          </a:xfrm>
          <a:prstGeom prst="rect">
            <a:avLst/>
          </a:prstGeom>
        </p:spPr>
      </p:pic>
      <p:cxnSp>
        <p:nvCxnSpPr>
          <p:cNvPr id="7" name="Straight Connector 6"/>
          <p:cNvCxnSpPr>
            <a:endCxn id="3" idx="2"/>
          </p:cNvCxnSpPr>
          <p:nvPr/>
        </p:nvCxnSpPr>
        <p:spPr>
          <a:xfrm flipH="1">
            <a:off x="4596938" y="3341715"/>
            <a:ext cx="11638" cy="382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248" y="520272"/>
            <a:ext cx="4346978" cy="272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3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992" y="3639312"/>
            <a:ext cx="8150352" cy="48768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800" dirty="0" smtClean="0"/>
              <a:t>FIG3:Decision tree                                  FIG4:ANN </a:t>
            </a:r>
            <a:endParaRPr lang="en-IN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0"/>
            <a:ext cx="4169664" cy="2743200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232" y="499872"/>
            <a:ext cx="4151376" cy="2791968"/>
          </a:xfrm>
          <a:prstGeom prst="rect">
            <a:avLst/>
          </a:prstGeom>
        </p:spPr>
      </p:pic>
      <p:cxnSp>
        <p:nvCxnSpPr>
          <p:cNvPr id="6" name="Straight Connector 5"/>
          <p:cNvCxnSpPr>
            <a:stCxn id="2" idx="2"/>
            <a:endCxn id="2" idx="0"/>
          </p:cNvCxnSpPr>
          <p:nvPr/>
        </p:nvCxnSpPr>
        <p:spPr>
          <a:xfrm flipV="1">
            <a:off x="4392168" y="3639312"/>
            <a:ext cx="0" cy="48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597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56259"/>
            <a:ext cx="4991100" cy="510541"/>
          </a:xfrm>
          <a:solidFill>
            <a:srgbClr val="92D050"/>
          </a:solidFill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>
            <a:normAutofit fontScale="90000"/>
          </a:bodyPr>
          <a:lstStyle/>
          <a:p>
            <a:r>
              <a:rPr lang="en-IN" dirty="0" smtClean="0"/>
              <a:t>Hyper parameter tuning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249680" y="4358640"/>
            <a:ext cx="191262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 smtClean="0"/>
              <a:t>Linear regression</a:t>
            </a:r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442284"/>
              </p:ext>
            </p:extLst>
          </p:nvPr>
        </p:nvGraphicFramePr>
        <p:xfrm>
          <a:off x="822960" y="1508759"/>
          <a:ext cx="2819401" cy="27736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516">
                  <a:extLst>
                    <a:ext uri="{9D8B030D-6E8A-4147-A177-3AD203B41FA5}">
                      <a16:colId xmlns:a16="http://schemas.microsoft.com/office/drawing/2014/main" val="1534096169"/>
                    </a:ext>
                  </a:extLst>
                </a:gridCol>
                <a:gridCol w="1190885">
                  <a:extLst>
                    <a:ext uri="{9D8B030D-6E8A-4147-A177-3AD203B41FA5}">
                      <a16:colId xmlns:a16="http://schemas.microsoft.com/office/drawing/2014/main" val="3374402318"/>
                    </a:ext>
                  </a:extLst>
                </a:gridCol>
              </a:tblGrid>
              <a:tr h="6013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b="1" dirty="0" err="1">
                          <a:solidFill>
                            <a:schemeClr val="tx1"/>
                          </a:solidFill>
                          <a:effectLst/>
                        </a:rPr>
                        <a:t>Hyperparameter</a:t>
                      </a:r>
                      <a:endParaRPr lang="en-IN" sz="11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effectLst/>
                        </a:rPr>
                        <a:t>R2-SCORE</a:t>
                      </a:r>
                      <a:endParaRPr lang="en-IN" sz="11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/>
                </a:tc>
                <a:extLst>
                  <a:ext uri="{0D108BD9-81ED-4DB2-BD59-A6C34878D82A}">
                    <a16:rowId xmlns:a16="http://schemas.microsoft.com/office/drawing/2014/main" val="882527189"/>
                  </a:ext>
                </a:extLst>
              </a:tr>
              <a:tr h="10403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</a:rPr>
                        <a:t>Fit_intercept</a:t>
                      </a:r>
                      <a:r>
                        <a:rPr lang="en-IN" sz="1400" dirty="0">
                          <a:effectLst/>
                        </a:rPr>
                        <a:t>=True</a:t>
                      </a:r>
                      <a:endParaRPr lang="en-IN" sz="1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</a:rPr>
                        <a:t>Random_state</a:t>
                      </a:r>
                      <a:r>
                        <a:rPr lang="en-IN" sz="1400" dirty="0">
                          <a:effectLst/>
                        </a:rPr>
                        <a:t>=0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38100" marT="41275" marB="4127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0.9653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38100" marT="41275" marB="41275"/>
                </a:tc>
                <a:extLst>
                  <a:ext uri="{0D108BD9-81ED-4DB2-BD59-A6C34878D82A}">
                    <a16:rowId xmlns:a16="http://schemas.microsoft.com/office/drawing/2014/main" val="3499126137"/>
                  </a:ext>
                </a:extLst>
              </a:tr>
              <a:tr h="5660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Random_state=42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38100" marT="41275" marB="4127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0.9431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38100" marT="41275" marB="41275"/>
                </a:tc>
                <a:extLst>
                  <a:ext uri="{0D108BD9-81ED-4DB2-BD59-A6C34878D82A}">
                    <a16:rowId xmlns:a16="http://schemas.microsoft.com/office/drawing/2014/main" val="3613520199"/>
                  </a:ext>
                </a:extLst>
              </a:tr>
              <a:tr h="5660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Ridge(alpha=0.1)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38100" marT="41275" marB="4127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0.9430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38100" marT="41275" marB="41275"/>
                </a:tc>
                <a:extLst>
                  <a:ext uri="{0D108BD9-81ED-4DB2-BD59-A6C34878D82A}">
                    <a16:rowId xmlns:a16="http://schemas.microsoft.com/office/drawing/2014/main" val="283708454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84520" y="4457700"/>
            <a:ext cx="17526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Random forest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98415"/>
              </p:ext>
            </p:extLst>
          </p:nvPr>
        </p:nvGraphicFramePr>
        <p:xfrm>
          <a:off x="4815840" y="1508759"/>
          <a:ext cx="2819400" cy="2667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0873">
                  <a:extLst>
                    <a:ext uri="{9D8B030D-6E8A-4147-A177-3AD203B41FA5}">
                      <a16:colId xmlns:a16="http://schemas.microsoft.com/office/drawing/2014/main" val="4280654242"/>
                    </a:ext>
                  </a:extLst>
                </a:gridCol>
                <a:gridCol w="978527">
                  <a:extLst>
                    <a:ext uri="{9D8B030D-6E8A-4147-A177-3AD203B41FA5}">
                      <a16:colId xmlns:a16="http://schemas.microsoft.com/office/drawing/2014/main" val="2595169740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 dirty="0" err="1">
                          <a:effectLst/>
                        </a:rPr>
                        <a:t>Hyperparameter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>
                          <a:effectLst/>
                        </a:rPr>
                        <a:t>R2-score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6342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>
                          <a:effectLst/>
                        </a:rPr>
                        <a:t>n_estimators=100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>
                          <a:effectLst/>
                        </a:rPr>
                        <a:t>0.9407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75577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>
                          <a:effectLst/>
                        </a:rPr>
                        <a:t>n_estimators=200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>
                          <a:effectLst/>
                        </a:rPr>
                        <a:t>0.9392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042457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>
                          <a:effectLst/>
                        </a:rPr>
                        <a:t>n_estimators=400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1400" dirty="0">
                          <a:effectLst/>
                        </a:rPr>
                        <a:t>0.9379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324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03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64008" cy="13716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32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Won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relationship between production volume and demand (r ≈ 0.97) means complex non-linear models offer no informational advantage — only added variance without bias reduction.</a:t>
            </a:r>
            <a:endParaRPr lang="en-US" sz="1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41248"/>
            <a:ext cx="64008" cy="13716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932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as Backup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2618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0.9393 with RMSE 64.60 tons. Ensemble of 200 trees provides robustness to overfitting and yields interpretable feature importance scores for operational use.</a:t>
            </a:r>
            <a:endParaRPr lang="en-US" sz="1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0008"/>
            <a:ext cx="64008" cy="13716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Insight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277063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DT achieved R² = </a:t>
            </a:r>
            <a:r>
              <a:rPr lang="en-US" sz="1100" b="1" dirty="0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0.9134</a:t>
            </a:r>
            <a:r>
              <a:rPr lang="en-US" sz="11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235000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50008"/>
            <a:ext cx="64008" cy="13716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Limitation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77063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did not fully converge. Confirms ANN regression requires larger datasets and thorough hyperparameter exploration to achieve competitive performance.</a:t>
            </a:r>
            <a:endParaRPr lang="en-US" sz="11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005072"/>
            <a:ext cx="8503920" cy="960120"/>
          </a:xfrm>
          <a:prstGeom prst="rect">
            <a:avLst/>
          </a:prstGeom>
          <a:solidFill>
            <a:srgbClr val="1C2B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059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3342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Primary model: Linear Regression (R² = 0.9430)  |  Secondary model: Random Forest for robustness to future feature expansion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work: Expand dataset temporally &amp; geographically; incorporate broader socioeconomic &amp; environmental predictors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600387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815340"/>
            <a:ext cx="7543800" cy="3787140"/>
          </a:xfrm>
        </p:spPr>
        <p:txBody>
          <a:bodyPr>
            <a:normAutofit fontScale="70000" lnSpcReduction="20000"/>
          </a:bodyPr>
          <a:lstStyle/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endParaRPr lang="en-IN" sz="16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IN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Misra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S., Reddy, B. V., &amp; Nair, R. (2023). Machine Learning for </a:t>
            </a:r>
            <a:r>
              <a:rPr lang="en-IN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Arecanut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Price Forecasting in Karnataka: A Random Forest and Gradient Boosting Approach. Journal of Agricultural Data Science, 5(2), 88–102</a:t>
            </a:r>
            <a:r>
              <a:rPr lang="en-IN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IN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Patil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A. R., &amp; Kulkarni, S. D. (2023). Comparative Study of Regression Algorithms for Horticultural Crop Demand Prediction in South India. Indian Journal of Agricultural Informatics, 34(1), 45–58.</a:t>
            </a:r>
          </a:p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Reddy, V. K., Nagaraj, H., &amp; Kumar, P. S. (2024). Artificial Neural Network-Based Demand Forecasting for Spice Crops in South India: Effect of Feature Normalization on </a:t>
            </a:r>
            <a:r>
              <a:rPr lang="en-IN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MLPRegressor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Convergence. Smart Agricultural Technology, 6, 100312. https://doi.org/10.1016/j.atech.2024.100312</a:t>
            </a:r>
          </a:p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Sharma, A., Tiwari, D., &amp; Gupta, R. (2024). </a:t>
            </a:r>
            <a:r>
              <a:rPr lang="en-IN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Hyperparameter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Optimization of Decision Tree Models for Agricultural Yield Prediction Using </a:t>
            </a:r>
            <a:r>
              <a:rPr lang="en-IN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GridSearchCV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Computers and Electronics in Agriculture, 220, 108901. https://doi.org/10.1016/j.compag.2024.108901</a:t>
            </a:r>
          </a:p>
          <a:p>
            <a:pPr marL="228600" indent="-228600" algn="just">
              <a:lnSpc>
                <a:spcPct val="133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Kumar, R., &amp; Singh, P. (2025). Ensemble Methods for Agricultural Market Demand Prediction: A Comparative Multi-Commodity Analysis Across South Asian Datasets. Agricultural Systems, 224, 104112. </a:t>
            </a:r>
            <a:r>
              <a:rPr lang="en-IN" sz="160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https://doi.org/10.1016/j.agsy.2025.104112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67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725" y="1643269"/>
            <a:ext cx="7543800" cy="96740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dirty="0" smtClean="0"/>
              <a:t>                 </a:t>
            </a:r>
            <a:r>
              <a:rPr lang="en-IN" dirty="0" smtClean="0"/>
              <a:t>     </a:t>
            </a:r>
            <a:r>
              <a:rPr lang="en-IN" dirty="0" smtClean="0"/>
              <a:t>THANK YOU….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5062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</TotalTime>
  <Words>1029</Words>
  <Application>Microsoft Office PowerPoint</Application>
  <PresentationFormat>On-screen Show (16:9)</PresentationFormat>
  <Paragraphs>129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Georgia</vt:lpstr>
      <vt:lpstr>Times New Roman</vt:lpstr>
      <vt:lpstr>Retrospect</vt:lpstr>
      <vt:lpstr>PowerPoint Presentation</vt:lpstr>
      <vt:lpstr>PRESENTATION OVERVIEW  1.Background &amp; Introduction Arecanut importance, Karnataka's role &amp; market challenges  2.Objective Goal of ML-based demand forecasting for arecanut  3.Dataset 100 records, 10 districts, environmental &amp; economic features  4.Methodology Four regression models with 80:20 train-test split  5.Results &amp; Model Comparison MAE, MSE, RMSE, R² across all four models  6.Key Findings Best model, feature importance &amp; hyperparameter tuning  7.Conclusion &amp; Recommendations Actionable insights for agricultural policy           </vt:lpstr>
      <vt:lpstr>Arecanut in Karnataka   ①  Karnataka accounts for ~40% of India's total arecanut production
②  Major districts: Shivamogga, Dakshina Kannada, Udupi, Chikkamagaluru, Kodagu
③  Highly volatile market: price swings 250–350 ₹/kg year-over-year
④  Farmers lack tools for data-driven demand forecasting
⑤  ML models offer non-linear, scalable prediction power over traditional statistics</vt:lpstr>
      <vt:lpstr>Karnataka contribution:  Contributes ~40% of India's total arecanut production. Key districts: Shivamogga, Dakshina Kannada, Udupi, Chikkamagaluru, Kodagu.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FIG3:Decision tree                                  FIG4:ANN </vt:lpstr>
      <vt:lpstr>Hyper parameter tuning</vt:lpstr>
      <vt:lpstr>PowerPoint Presentation</vt:lpstr>
      <vt:lpstr>REFERENCES</vt:lpstr>
      <vt:lpstr>                      THANK YOU….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for Arecanut Demand Prediction</dc:title>
  <dc:subject>PptxGenJS Presentation</dc:subject>
  <dc:creator>PptxGenJS</dc:creator>
  <cp:lastModifiedBy>supriya bh</cp:lastModifiedBy>
  <cp:revision>13</cp:revision>
  <dcterms:created xsi:type="dcterms:W3CDTF">2026-04-14T05:29:05Z</dcterms:created>
  <dcterms:modified xsi:type="dcterms:W3CDTF">2026-04-16T10:13:55Z</dcterms:modified>
</cp:coreProperties>
</file>